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8" r:id="rId6"/>
    <p:sldId id="259" r:id="rId7"/>
    <p:sldId id="262" r:id="rId8"/>
    <p:sldId id="264" r:id="rId9"/>
    <p:sldId id="266" r:id="rId10"/>
    <p:sldId id="267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70" r:id="rId21"/>
    <p:sldId id="273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6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9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6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用户的痛点。表面上看，投资者面临的是信息过载的问题，但实际上，更深层次的问题是“知行不一”。他们学了很多知识，却无法在实际操作中执行，导致持续亏损。我们认为，根本原因在于市场上缺少一个能将知识转化为稳定行为的训练体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痛点，我们的解决方案是从根本上进行转变：我们不再提供具体的投资建议，而是通过一个AI驱动的训练系统，帮助用户建立自己的决策和执行能力。这个系统包含三大核心引擎：评估引擎、训练引擎和复盘引擎，形成一个持续优化的训练闭环，最终将用户的交易行为数据化、模型化，实现能力的真正提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我们深入验证市场。数据显示，交易能力训练营细分赛道有百亿级理论市场规模，用户基数庞大且有付费潜力。通过对超100名高净值目标用户深度访谈，近八成用户付费意愿强烈，可接受客单价符合定价策略。他们的三大核心痛点“建立交易体系、控制回撤、有人监督复盘”与训练营产品设计理念高度契合。这证明我们并非凭空创造新需求，而是切入了一个需求真实、付费意愿强、模式可行的优质市场。 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为什么是现在？我们认为，三大趋势的叠加为我们创造了一个黄金窗口期。首先，市场周期驱动散户回归，学习需求空前高涨。其次，AI和量化工具的普及，使得个性化、规模化的能力训练成为可能。最后，内容平台的红利降低了获客成本。这三大因素共同作用，为我们的项目提供了绝佳的发展机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用户设计了清晰的成长路径，从低门槛的体验阶段开始，逐步进入基础训练、进阶训练，最终成为我们的长期会员。这个路径不仅提升了用户的生命周期价值（LTV），更重要的是，它确保了我们交付的是一个完整的“能力提升过程”，而不仅仅是一次性的课程内容，从而建立了强大的用户粘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增长模型已经得到初步验证。通过小规模测试，我们实现了18%的体验课到付费课的转化率，并且学员在训练后的交易表现，如胜率和回撤控制，都有了显著改善。更重要的是，我们的单位经济模型非常健康，LTV与CAC的比率高达28.7，单个学员的毛利率达到81%，这证明了我们商业模式的可持续性和盈利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合规是金融科技项目的生命线。我们从一开始就明确了业务定位为“投资教育”，坚决不提供任何形式的投资顾问服务。我们的课程内容严格遵守监管要求，聚焦于交易能力和风险控制的训练。同时，我们已经聘请了专业的法律团队，并建立了完善的内部合规审核机制，确保业务的长期健康发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我的介绍到此结束。我们坚信，通过AI驱动的行为训练，我们能够真正改变投资者的命运，让稳定盈利不再是少数人的特权。感谢各位的聆听，期待与您携手，共同见证这个新时代的到来。谢谢！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24" y="6356350"/>
            <a:ext cx="213371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363" y="6356350"/>
            <a:ext cx="28957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541" y="6356350"/>
            <a:ext cx="2133711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7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0.jpe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AI驱动的交易能力训练平台</a:t>
            </a:r>
            <a:endParaRPr lang="en-US" sz="5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4"/>
          <p:cNvSpPr/>
          <p:nvPr/>
        </p:nvSpPr>
        <p:spPr>
          <a:xfrm>
            <a:off x="5334000" y="4060190"/>
            <a:ext cx="1524000" cy="508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5"/>
          <p:cNvSpPr/>
          <p:nvPr/>
        </p:nvSpPr>
        <p:spPr>
          <a:xfrm>
            <a:off x="635" y="3247390"/>
            <a:ext cx="1219073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D4AF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从“知道”到“做到”，重塑交易能力</a:t>
            </a:r>
            <a:endParaRPr lang="en-US" sz="2800" b="1" i="0" u="none" strike="noStrike">
              <a:solidFill>
                <a:srgbClr val="D4AF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6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 · 智能金融科技解决方案</a:t>
            </a:r>
            <a:endParaRPr lang="en-US" sz="1100"/>
          </a:p>
        </p:txBody>
      </p:sp>
      <p:sp>
        <p:nvSpPr>
          <p:cNvPr id="10" name="AutoShape 5"/>
          <p:cNvSpPr/>
          <p:nvPr/>
        </p:nvSpPr>
        <p:spPr>
          <a:xfrm>
            <a:off x="0" y="4754880"/>
            <a:ext cx="12192000" cy="5359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上海博来雅信息科技有限公司</a:t>
            </a:r>
            <a:r>
              <a:rPr lang="en-US" altLang="zh-CN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                       </a:t>
            </a:r>
            <a:endParaRPr lang="zh-CN" altLang="en-US" sz="20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用户痛点：从“信息过载”到“知行不一”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E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260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表层：决策失效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资源过剩：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投资者不缺资讯、研报、KOL观点，也不缺行情软件和数据平台。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负面结果：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海量信息下，反而长期收益不稳定、频繁亏损，投资体验持续恶化。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800"/>
              </a:spcBef>
            </a:pPr>
            <a:r>
              <a:rPr lang="en-US" sz="13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结论：问题不在“信息不足”，而在“无法有效决策”。</a:t>
            </a:r>
            <a:endParaRPr lang="en-US" sz="1300" b="1" i="0" u="none" strike="noStrike">
              <a:solidFill>
                <a:srgbClr val="4A90E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E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964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2260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核心：知行脱节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048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认知与行为割裂：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道理都懂（止损、不追高），但情绪驱动交易，实际操作完全变形。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典型错误：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追涨杀跌、听信消息、盈利拿不住，亏损死扛并不断加仓摊薄成本。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2964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🔥 本质：不是“不会”，而是“做不到”。</a:t>
            </a:r>
            <a:endParaRPr lang="en-US" sz="1300" b="1" i="0" u="none" strike="noStrike">
              <a:solidFill>
                <a:srgbClr val="2964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E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438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2260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根源：体系缺失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048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现有供给：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市场仅提供碎片化的信息、知识和零散建议。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关键缺失：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缺乏一套将“知识”系统转化为“稳定行为”的训练机制与反馈闭环。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800"/>
              </a:spcBef>
            </a:pPr>
            <a:r>
              <a:rPr lang="en-US" sz="1300" b="1" i="0" u="none" strike="noStrike">
                <a:solidFill>
                  <a:srgbClr val="1438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⚡️ 断层：执行（Execution）能力严重不足。</a:t>
            </a:r>
            <a:endParaRPr lang="en-US" sz="1300" b="1" i="0" u="none" strike="noStrike">
              <a:solidFill>
                <a:srgbClr val="1438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解决方案：从“给答案”到“给能力”的系统性升级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传统模式 · 给股票（答案）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信息单向输入 • 过度依赖讲师 • 追求短期收益</a:t>
            </a:r>
            <a:endParaRPr lang="en-US" sz="14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223000" y="1778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477000" y="1968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我们的模式 · 训练能力（系统）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深度行为训练 • 自主依赖系统 • 积累长期能力</a:t>
            </a:r>
            <a:endParaRPr lang="en-US" sz="14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10668000" cy="762000"/>
          </a:xfrm>
          <a:prstGeom prst="roundRect">
            <a:avLst>
              <a:gd name="adj" fmla="val 2000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5814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核心一句话：我们不提供“买什么”，而是让用户具备“如何决策与执行”的能力。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445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D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69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46355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交易能力评估引擎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分析交易记录，识别行为模式，输出能力评分。将“感觉问题”转化为“数据问题”。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445000" y="4445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D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4699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207000" y="46355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行为训练引擎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提供个性化训练任务与行为约束机制，将投资知识转化为可落地的“执行动作”。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128000" y="4445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D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4699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890000" y="46355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智能复盘引擎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自动复盘每笔交易，分析错误根源，给出优化建议，帮助用户形成正向反馈闭环。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969000"/>
            <a:ext cx="10668000" cy="635000"/>
          </a:xfrm>
          <a:prstGeom prst="roundRect">
            <a:avLst>
              <a:gd name="adj" fmla="val 16000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持续进化闭环：交易行为 → 数据记录 → AI 智能分析 → 针对性训练 → 再次执行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市场验证：一个被验证且潜力巨大的赛道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3429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📊 训练营细分市场规模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2286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国内总体股民规模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8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 2.2 亿人</a:t>
            </a:r>
            <a:endParaRPr lang="en-US" sz="1800" b="1" i="0" u="none" strike="noStrike">
              <a:solidFill>
                <a:srgbClr val="4A90E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主动关注投资内容用户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8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 2200 万人</a:t>
            </a:r>
            <a:endParaRPr lang="en-US" sz="1800" b="1" i="0" u="none" strike="noStrike">
              <a:solidFill>
                <a:srgbClr val="4A90E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429000" y="2540000"/>
            <a:ext cx="2286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潜在付费意向用户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8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220 - 440 万人</a:t>
            </a:r>
            <a:endParaRPr lang="en-US" sz="1800" b="1" i="0" u="none" strike="noStrike">
              <a:solidFill>
                <a:srgbClr val="4A90E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 / 可实现(SOM 5%)规模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8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1000亿 / 50亿元</a:t>
            </a:r>
            <a:endParaRPr lang="en-US" sz="1800" b="1" i="0" u="none" strike="noStrike">
              <a:solidFill>
                <a:srgbClr val="4A90E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3429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184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👥 100+ 目标用户深度访谈验证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540000"/>
            <a:ext cx="4699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付费意愿强烈：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78% 的受访用户明确愿意付费获取系统化交易能力。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💸 价格敏感度适中：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可接受客单价集中在</a:t>
            </a:r>
            <a:r>
              <a:rPr lang="en-US" sz="14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3000元 - 8000元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区间。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核心痛点需求：</a:t>
            </a:r>
            <a:endParaRPr lang="en-US" sz="14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建立稳定的个人交易体系 (71%) | 2. 控制回撤降低亏损 (68%) | 3. 有人监督与复盘 (64%)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56896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结论：市场存在明确的“系统化交易能力”刚性需求，且用户具备真实付费意愿，训练营模式已被充分验证可行。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为什么现在做？三大趋势叠加的黄金窗口期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159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市场周期：散户回归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市场波动加大，散户交易重新活跃，对投资知识有迫切需求。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投资方式正从“被动听消息/跟推荐”向“主动学习方法/建立个人投资体系”转变。</a:t>
            </a:r>
            <a:endParaRPr lang="en-US" sz="13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905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159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2159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AI与量化：门槛降低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04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AI工具普及，能提供自动复盘、行为分析等功能，显著提升用户学习与实践效率。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因子模型、回测工具的“平民化”，让非专业投资者也能低成本获取专业级分析能力。</a:t>
            </a:r>
            <a:endParaRPr lang="en-US" sz="13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905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159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17000" y="2159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内容平台：获客红利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04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投资类内容天然具备高关注度与传播性，“内容种草→付费课程”的转化路径已非常成熟。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相比传统渠道，内容驱动的获客模式成本更低，且能沉淀私域流量，提升复购。</a:t>
            </a:r>
            <a:endParaRPr lang="en-US" sz="13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207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397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核心结论：用户认知拐点已至 + 技术赋能条件成熟 + 赛道竞争格局相对空白 = 最佳入场时机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三大黄金窗口期形成共振，现在切入将占据先发优势。</a:t>
            </a:r>
            <a:endParaRPr lang="en-US" sz="14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用户成长路径：从体验到忠诚的LTV引擎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540000" cy="3302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2540000" cy="8890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930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857500"/>
            <a:ext cx="228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体验阶段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ACQUISITION</a:t>
            </a:r>
            <a:endParaRPr lang="en-US" sz="1200" b="0" i="0" u="none" strike="noStrike">
              <a:solidFill>
                <a:srgbClr val="9696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低门槛体验课/认知课程，采集基础数据，完成用户初始能力画像。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67100" y="1778000"/>
            <a:ext cx="2540000" cy="3302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467100" y="1778000"/>
            <a:ext cx="2540000" cy="8890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94100" y="1930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94100" y="2857500"/>
            <a:ext cx="228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基础训练阶段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FOUNDATION</a:t>
            </a:r>
            <a:endParaRPr lang="en-US" sz="1200" b="0" i="0" u="none" strike="noStrike">
              <a:solidFill>
                <a:srgbClr val="9696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标准化基础训练营，建立交易基础体系，完成从“无结构行为”到“规则化行为”的转变。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172200" y="1778000"/>
            <a:ext cx="2540000" cy="3302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172200" y="1778000"/>
            <a:ext cx="2540000" cy="8890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99200" y="1930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99200" y="2857500"/>
            <a:ext cx="228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进阶训练阶段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ADVANCED</a:t>
            </a:r>
            <a:endParaRPr lang="en-US" sz="1200" b="0" i="0" u="none" strike="noStrike">
              <a:solidFill>
                <a:srgbClr val="9696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进阶训练营/专项训练，优化策略执行，强化风险控制。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877300" y="1778000"/>
            <a:ext cx="2540000" cy="3302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877300" y="1778000"/>
            <a:ext cx="2540000" cy="8890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004300" y="1930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04300" y="2857500"/>
            <a:ext cx="228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实战陪跑与会员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RETENTION</a:t>
            </a:r>
            <a:endParaRPr lang="en-US" sz="1200" b="0" i="0" u="none" strike="noStrike">
              <a:solidFill>
                <a:srgbClr val="9696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实战陪跑营、年费会员体系，长期行为监督，持续复盘与优化。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2C5C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55626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关键差异：我们交付的是“能力提升过程”，而不是“内容本身”。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增长模型：已验证的PMF与健康的单位经济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429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76200"/>
          </a:xfrm>
          <a:prstGeom prst="roundRect">
            <a:avLst>
              <a:gd name="adj" fmla="val 2000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1082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产品市场验证 (PMF Validation)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2222500" cy="2032000"/>
          </a:xfrm>
          <a:prstGeom prst="roundRect">
            <a:avLst>
              <a:gd name="adj" fmla="val 5000"/>
            </a:avLst>
          </a:prstGeom>
          <a:solidFill>
            <a:srgbClr val="F5F9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43000" y="2984500"/>
            <a:ext cx="1968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体验课转付费率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36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18%</a:t>
            </a:r>
            <a:endParaRPr lang="en-US" sz="3600" b="1" i="0" u="none" strike="noStrike">
              <a:solidFill>
                <a:srgbClr val="4A90E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0000"/>
              </a:lnSpc>
              <a:spcBef>
                <a:spcPts val="1000"/>
              </a:spcBef>
            </a:pPr>
            <a:r>
              <a:rPr lang="en-US" sz="11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单期付费学员 70 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收入约 28 万元</a:t>
            </a:r>
            <a:endParaRPr lang="en-US" sz="1100" b="0" i="0" u="none" strike="noStrike">
              <a:solidFill>
                <a:srgbClr val="808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492500" y="2794000"/>
            <a:ext cx="2222500" cy="2032000"/>
          </a:xfrm>
          <a:prstGeom prst="roundRect">
            <a:avLst>
              <a:gd name="adj" fmla="val 5000"/>
            </a:avLst>
          </a:prstGeom>
          <a:solidFill>
            <a:srgbClr val="F5F9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619500" y="2921000"/>
            <a:ext cx="1968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课程效果显著提升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平均胜率：42% →</a:t>
            </a:r>
            <a:r>
              <a:rPr lang="en-US" sz="16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54%</a:t>
            </a:r>
            <a:endParaRPr lang="en-US" sz="1600" b="1" i="0" u="none" strike="noStrike">
              <a:solidFill>
                <a:srgbClr val="16A3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最大回撤：21% →</a:t>
            </a: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13%</a:t>
            </a:r>
            <a:endParaRPr lang="en-US" sz="1600" b="1" i="0" u="none" strike="noStrike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5207000" cy="3429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5207000" cy="76200"/>
          </a:xfrm>
          <a:prstGeom prst="roundRect">
            <a:avLst>
              <a:gd name="adj" fmla="val 2000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159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21500" y="21082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单位经济模型 (Unit Economics)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2794000"/>
            <a:ext cx="2349500" cy="952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04000" y="2921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获客成本 (CAC)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¥ 320</a:t>
            </a:r>
            <a:endParaRPr lang="en-US" sz="2200" b="1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953500" y="2794000"/>
            <a:ext cx="2349500" cy="952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080500" y="2921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用户终身价值 (LTV)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¥ 9,200</a:t>
            </a:r>
            <a:endParaRPr lang="en-US" sz="2200" b="1" i="0" u="none" strike="noStrike">
              <a:solidFill>
                <a:srgbClr val="EA580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3937000"/>
            <a:ext cx="2349500" cy="952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04000" y="4064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LTV / CAC 比率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≈ 28.7</a:t>
            </a:r>
            <a:endParaRPr lang="en-US" sz="2200" b="1" i="0" u="none" strike="noStrike">
              <a:solidFill>
                <a:srgbClr val="4A90E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953500" y="3937000"/>
            <a:ext cx="2349500" cy="952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080500" y="4064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单个学员毛利率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81%</a:t>
            </a:r>
            <a:endParaRPr lang="en-US" sz="2200" b="1" i="0" u="none" strike="noStrike">
              <a:solidFill>
                <a:srgbClr val="16A3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5689600"/>
            <a:ext cx="558800" cy="558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2032000" y="56134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结论：商业模式具备良好的经济模型和强大的盈利能力，已具备规模化复制的基础。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e51846c4b4463bdb73f71ed3f53af0f2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4825" y="278130"/>
            <a:ext cx="10610850" cy="6355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2-thes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3-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4-capabiliti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5-model-dat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6-reposito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7-runboo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8-agent-bound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合规设计：坚守投资教育边界，拥抱监管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D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400" y="2095500"/>
            <a:ext cx="711200" cy="711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048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业务定位：投资教育而非投资顾问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937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核心定位：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聚焦“股票交易能力训练营”，提供纯粹的投资教育服务，专注能力提升。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红线禁区：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严禁提供个股推荐、买卖点建议、实时交易信号及任何形式的投资顾问服务。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D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0400" y="2095500"/>
            <a:ext cx="711200" cy="711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72000" y="3048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课程体系合规边界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3937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正向内容：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涵盖股票基础知识、通用技术分析方法、科学的风险控制体系及历史交易案例的客观复盘。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负面清单：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不涉及任何个股的具体分析、实时交易指导或直接的投资建议，确保中立性。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D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t="23809" b="23809"/>
          <a:stretch>
            <a:fillRect/>
          </a:stretch>
        </p:blipFill>
        <p:spPr>
          <a:xfrm>
            <a:off x="8445500" y="2032000"/>
            <a:ext cx="2667000" cy="1397000"/>
          </a:xfrm>
          <a:prstGeom prst="roundRect">
            <a:avLst>
              <a:gd name="adj" fmla="val 727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8255000" y="355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合规保障与资质规划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4445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聘请专业金融法律团队，对业务模式进行全面合规审查并出具意见书。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建立严格的内容审核与风控机制，持续优化合规管理流程。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逐步完善ICP备案、增值电信业务等教育与信息服务相关资质。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驱动的交易能力训练平台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207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30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期待与您携手 · 共赴 AI 交易新时代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2254</Words>
  <Application>WPS 演示</Application>
  <PresentationFormat/>
  <Paragraphs>172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babe</cp:lastModifiedBy>
  <cp:revision>16</cp:revision>
  <dcterms:created xsi:type="dcterms:W3CDTF">2026-04-27T06:37:00Z</dcterms:created>
  <dcterms:modified xsi:type="dcterms:W3CDTF">2026-05-17T10:57:42Z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416B29D5A7A346EE8A04615D6652C569_12</vt:lpwstr>
  </property>
</Properties>
</file>